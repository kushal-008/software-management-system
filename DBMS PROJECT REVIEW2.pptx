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</p:sldMasterIdLst>
  <p:notesMasterIdLst>
    <p:notesMasterId r:id="rId41"/>
  </p:notesMasterIdLst>
  <p:sldIdLst>
    <p:sldId id="280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5" r:id="rId12"/>
    <p:sldId id="277" r:id="rId13"/>
    <p:sldId id="296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4" r:id="rId34"/>
    <p:sldId id="295" r:id="rId35"/>
    <p:sldId id="291" r:id="rId36"/>
    <p:sldId id="292" r:id="rId37"/>
    <p:sldId id="293" r:id="rId38"/>
    <p:sldId id="297" r:id="rId39"/>
    <p:sldId id="29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0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1" autoAdjust="0"/>
    <p:restoredTop sz="94695"/>
  </p:normalViewPr>
  <p:slideViewPr>
    <p:cSldViewPr snapToGrid="0">
      <p:cViewPr varScale="1">
        <p:scale>
          <a:sx n="101" d="100"/>
          <a:sy n="101" d="100"/>
        </p:scale>
        <p:origin x="11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EB045-517C-406E-9440-EA276FD35419}" type="datetimeFigureOut">
              <a:rPr lang="en-IN" smtClean="0"/>
              <a:t>05/10/26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62EB9-183D-4E4C-8CAB-FB71C205758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559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62EB9-183D-4E4C-8CAB-FB71C2057587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33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AEE3A3-1F9C-DE4A-8615-5E645034FDE4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098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D2288-9C8E-8C45-A636-2E3E8EFB9EBE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008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B108631-6EF6-A742-A3B0-4FC7E7E13BFA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7442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F774787-B38A-4342-B049-3F9A38524AAF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1761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4A9CBD6-E180-2E41-BEDF-6B1F755F417B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7521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718A4F-00E5-E44D-8B86-B822A1031573}" type="datetime1">
              <a:rPr lang="en-IN" smtClean="0"/>
              <a:t>05/10/26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18451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F2DAD2-3A58-E24F-AC1C-9F68BACB2EB4}" type="datetime1">
              <a:rPr lang="en-IN" smtClean="0"/>
              <a:t>05/10/26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03618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29C66-1C11-2347-B33F-5F7DD01FCB02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2789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273EA7-54E0-7E4B-8DA2-51D5B0EF40BB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31325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42F80-049B-D74E-8B65-67A7DFE2AF77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14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FF5B-6CEB-9F4E-92E5-744B08AD6B99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456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67C8C-C5BA-D442-A807-54893E80F86B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116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AFB3F-3577-7C42-A507-95BE456B2C8A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417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9DF5D-EA38-2741-AF42-7090598EA7FA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057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6D29C-68FE-0E49-844C-7FEBB3E955C1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0577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5F84E-48DA-C94C-B30E-F5E95E4BD8CC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830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C330-E996-D34D-A8F9-23770051CDA3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7853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67AF6-2A07-F647-A4A7-270EB052D883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9699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68D38A0-B16A-9C40-A5C7-2B4CAEE998E9}" type="datetime1">
              <a:rPr lang="en-IN" smtClean="0"/>
              <a:t>05/10/26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7000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35260BB-F71C-C04E-9573-C273BAA8D998}" type="datetime1">
              <a:rPr lang="en-IN" smtClean="0"/>
              <a:t>05/10/26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6540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582A378-D4FF-AF46-B267-BB1CCF1A5183}" type="datetime1">
              <a:rPr lang="en-IN" smtClean="0"/>
              <a:t>05/10/26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9505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7D078-A406-D04A-AEB4-A4E12EB62CCA}" type="datetime1">
              <a:rPr lang="en-IN" smtClean="0"/>
              <a:t>05/10/26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18903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8DDFF-38F9-214B-A079-1C50221657A3}" type="datetime1">
              <a:rPr lang="en-IN" smtClean="0"/>
              <a:t>05/10/26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865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14559-1925-7149-AEBD-A2ED612A7CD3}" type="datetime1">
              <a:rPr lang="en-IN" smtClean="0"/>
              <a:t>05/10/26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6373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D5414-B669-0B4A-9198-F3B2288F61DE}" type="datetime1">
              <a:rPr lang="en-IN" smtClean="0"/>
              <a:t>05/10/26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372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693D882-CC36-C844-8502-DA24B5852E91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9408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E6A5457-533E-FD40-BD4F-01F03831D5DB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229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/>
              <a:t>DBMS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60592B0D-1E24-2741-8B5E-86DDFEACED4A}" type="datetime1">
              <a:rPr lang="en-IN" smtClean="0"/>
              <a:t>05/10/26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3A37C482-EB02-44B1-BF87-ACCB6182C5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176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  <p:sldLayoutId id="2147483697" r:id="rId19"/>
    <p:sldLayoutId id="2147483698" r:id="rId20"/>
    <p:sldLayoutId id="2147483699" r:id="rId21"/>
    <p:sldLayoutId id="2147483700" r:id="rId22"/>
    <p:sldLayoutId id="2147483701" r:id="rId23"/>
    <p:sldLayoutId id="2147483702" r:id="rId24"/>
    <p:sldLayoutId id="2147483703" r:id="rId25"/>
    <p:sldLayoutId id="2147483704" r:id="rId26"/>
    <p:sldLayoutId id="2147483705" r:id="rId2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26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0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mailto:mohan@company.com" TargetMode="External"/><Relationship Id="rId13" Type="http://schemas.openxmlformats.org/officeDocument/2006/relationships/hyperlink" Target="mailto:harish@company.com" TargetMode="External"/><Relationship Id="rId3" Type="http://schemas.openxmlformats.org/officeDocument/2006/relationships/hyperlink" Target="mailto:ramesh@company.com" TargetMode="External"/><Relationship Id="rId7" Type="http://schemas.openxmlformats.org/officeDocument/2006/relationships/hyperlink" Target="mailto:kavya@company.com" TargetMode="External"/><Relationship Id="rId12" Type="http://schemas.openxmlformats.org/officeDocument/2006/relationships/hyperlink" Target="mailto:naveen@company.com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Relationship Id="rId6" Type="http://schemas.openxmlformats.org/officeDocument/2006/relationships/hyperlink" Target="mailto:ajay@company.com" TargetMode="External"/><Relationship Id="rId11" Type="http://schemas.openxmlformats.org/officeDocument/2006/relationships/hyperlink" Target="mailto:deepak@company.com" TargetMode="External"/><Relationship Id="rId5" Type="http://schemas.openxmlformats.org/officeDocument/2006/relationships/hyperlink" Target="mailto:meena@company.com" TargetMode="External"/><Relationship Id="rId10" Type="http://schemas.openxmlformats.org/officeDocument/2006/relationships/hyperlink" Target="mailto:vijay@company.com" TargetMode="External"/><Relationship Id="rId4" Type="http://schemas.openxmlformats.org/officeDocument/2006/relationships/hyperlink" Target="mailto:sanjay@company.com" TargetMode="External"/><Relationship Id="rId9" Type="http://schemas.openxmlformats.org/officeDocument/2006/relationships/hyperlink" Target="mailto:swathi@company.com" TargetMode="External"/><Relationship Id="rId14" Type="http://schemas.openxmlformats.org/officeDocument/2006/relationships/hyperlink" Target="mailto:geetha@company.com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69D143-1EA7-AFA3-1B9D-DD00CA2352EB}"/>
              </a:ext>
            </a:extLst>
          </p:cNvPr>
          <p:cNvSpPr txBox="1"/>
          <p:nvPr/>
        </p:nvSpPr>
        <p:spPr>
          <a:xfrm>
            <a:off x="1737360" y="1627886"/>
            <a:ext cx="8878473" cy="689420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normAutofit/>
          </a:bodyPr>
          <a:lstStyle/>
          <a:p>
            <a:pPr algn="ctr">
              <a:defRPr sz="4000" b="1">
                <a:solidFill>
                  <a:srgbClr val="162334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AB9965-6CC6-A54C-9697-0F0FD9DF9155}"/>
              </a:ext>
            </a:extLst>
          </p:cNvPr>
          <p:cNvSpPr txBox="1"/>
          <p:nvPr/>
        </p:nvSpPr>
        <p:spPr>
          <a:xfrm>
            <a:off x="2784107" y="2129392"/>
            <a:ext cx="7058527" cy="1351139"/>
          </a:xfrm>
          <a:prstGeom prst="rect">
            <a:avLst/>
          </a:prstGeom>
          <a:noFill/>
        </p:spPr>
        <p:txBody>
          <a:bodyPr wrap="square" lIns="73152" tIns="36576" rIns="73152" bIns="36576" anchor="ctr">
            <a:spAutoFit/>
          </a:bodyPr>
          <a:lstStyle/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r>
              <a:rPr lang="en-US" sz="3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MANAGEMENT SYSTEM</a:t>
            </a:r>
            <a:endParaRPr lang="en-IN" sz="32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900" b="1">
                <a:solidFill>
                  <a:srgbClr val="2A6CB4"/>
                </a:solidFill>
                <a:latin typeface="Aptos"/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0" descr="/home/workdir/artifacts/logos/aditya_logo_official.png">
            <a:extLst>
              <a:ext uri="{FF2B5EF4-FFF2-40B4-BE49-F238E27FC236}">
                <a16:creationId xmlns:a16="http://schemas.microsoft.com/office/drawing/2014/main" id="{FEAC4A45-1BC3-E335-D757-C9976BC92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107" y="214885"/>
            <a:ext cx="6400800" cy="105156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4DC9F38-603D-7930-5097-27B2D545C9B6}"/>
              </a:ext>
            </a:extLst>
          </p:cNvPr>
          <p:cNvSpPr txBox="1"/>
          <p:nvPr/>
        </p:nvSpPr>
        <p:spPr>
          <a:xfrm>
            <a:off x="4644991" y="3958023"/>
            <a:ext cx="26790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G. Kushal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S. Abhishek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M. Shankar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S.K Zhuwao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02AB22-2B46-8071-3E1B-5434A52D973C}"/>
              </a:ext>
            </a:extLst>
          </p:cNvPr>
          <p:cNvSpPr txBox="1"/>
          <p:nvPr/>
        </p:nvSpPr>
        <p:spPr>
          <a:xfrm>
            <a:off x="1977263" y="1327918"/>
            <a:ext cx="79616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62334"/>
                </a:solidFill>
                <a:latin typeface="Aptos"/>
              </a:defRPr>
            </a:pP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815E19-9250-CD73-7CBA-A5C80F8F696B}"/>
              </a:ext>
            </a:extLst>
          </p:cNvPr>
          <p:cNvSpPr txBox="1"/>
          <p:nvPr/>
        </p:nvSpPr>
        <p:spPr>
          <a:xfrm>
            <a:off x="3356319" y="3398871"/>
            <a:ext cx="6574300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u="sng" dirty="0">
                <a:solidFill>
                  <a:srgbClr val="16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b="1" u="sng" dirty="0">
                <a:solidFill>
                  <a:srgbClr val="16233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COMPUTER  SCIENCE AND ENGINEERING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524FC-07C2-D317-0576-A4CAC08A6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81CA24-E700-4EAD-F8E6-97223372A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143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41CDB-8DAE-55C8-275B-FDB484C8B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4BAF831D-1FB1-922D-3FFD-7DAEE2C473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E34D37-3A17-1674-991D-23C55710AC4F}"/>
              </a:ext>
            </a:extLst>
          </p:cNvPr>
          <p:cNvSpPr txBox="1"/>
          <p:nvPr/>
        </p:nvSpPr>
        <p:spPr>
          <a:xfrm>
            <a:off x="1295593" y="1346360"/>
            <a:ext cx="10068232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software information manually can be time-consuming and difficult.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Maintaining software, user, and license records manually may lead to errors.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Checking software availability and license status can be difficult.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Managing software purchases, licenses, installations, and renewals requires proper record keeping.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Searching and updating software information manually takes more time.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need for a centralized database to store and manage all software-related information efficiently.</a:t>
            </a:r>
          </a:p>
          <a:p>
            <a:pPr>
              <a:buNone/>
            </a:pPr>
            <a:endParaRPr 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SOLUTION:</a:t>
            </a:r>
          </a:p>
          <a:p>
            <a:pPr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Software Management System provides a centralized database to manage software products, users, licenses, vendors, installations, and purchase information in an organized and efficient manner.</a:t>
            </a:r>
            <a:endParaRPr 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3DB88D9-4FE2-7282-07D4-1FAD5D5E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571A38-598B-7A43-50D6-9D62C8B08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5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EE229-263E-2697-D3FA-55A4899CB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58DCEBB-89F8-0BA4-1E18-BBE60B7E3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D7D422-10FF-C19E-12C6-1EFB5A02D4E0}"/>
              </a:ext>
            </a:extLst>
          </p:cNvPr>
          <p:cNvSpPr txBox="1"/>
          <p:nvPr/>
        </p:nvSpPr>
        <p:spPr>
          <a:xfrm>
            <a:off x="668594" y="1209367"/>
            <a:ext cx="9920748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IS THE SYSTEM NEEDED?</a:t>
            </a:r>
          </a:p>
          <a:p>
            <a:pPr>
              <a:buNone/>
            </a:pPr>
            <a:endParaRPr lang="en-US" sz="20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/>
              <a:t>• To reduce manual work in software management.</a:t>
            </a:r>
          </a:p>
          <a:p>
            <a:endParaRPr lang="en-IN" sz="2000" dirty="0"/>
          </a:p>
          <a:p>
            <a:r>
              <a:rPr lang="en-IN" sz="2000" dirty="0"/>
              <a:t>• To maintain software and user information in one place.</a:t>
            </a:r>
          </a:p>
          <a:p>
            <a:endParaRPr lang="en-IN" sz="2000" dirty="0"/>
          </a:p>
          <a:p>
            <a:r>
              <a:rPr lang="en-IN" sz="2000" dirty="0"/>
              <a:t>• To quickly check software and license availability.</a:t>
            </a:r>
          </a:p>
          <a:p>
            <a:endParaRPr lang="en-IN" sz="2000" dirty="0"/>
          </a:p>
          <a:p>
            <a:r>
              <a:rPr lang="en-IN" sz="2000" dirty="0"/>
              <a:t>• To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</a:t>
            </a:r>
            <a:r>
              <a:rPr lang="en-IN" sz="2000" dirty="0"/>
              <a:t> software licenses efficiently.</a:t>
            </a:r>
          </a:p>
          <a:p>
            <a:endParaRPr lang="en-IN" sz="2000" dirty="0"/>
          </a:p>
          <a:p>
            <a:r>
              <a:rPr lang="en-IN" sz="2000" dirty="0"/>
              <a:t>• To maintain accurate purchase and renewal records.</a:t>
            </a:r>
          </a:p>
          <a:p>
            <a:endParaRPr lang="en-IN" sz="2000" dirty="0"/>
          </a:p>
          <a:p>
            <a:r>
              <a:rPr lang="en-IN" sz="2000" dirty="0"/>
              <a:t>• To reduce data duplication and human errors.</a:t>
            </a:r>
          </a:p>
          <a:p>
            <a:endParaRPr lang="en-IN" sz="2000" dirty="0"/>
          </a:p>
          <a:p>
            <a:r>
              <a:rPr lang="en-IN" sz="2000" dirty="0"/>
              <a:t>• To provide faster access to software information.</a:t>
            </a:r>
          </a:p>
          <a:p>
            <a:pPr>
              <a:buNone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4A4DCE8-CCA8-C1AB-1A39-1EB79043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1750D-D809-03DD-59A2-ED6BBB4FC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67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5236-4BC4-5A42-7AFD-9C16705BD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33DC68BD-1F1D-A7C9-E5E9-F2ABFEE5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396543-E7E9-D4AE-0E27-2B215B543C93}"/>
              </a:ext>
            </a:extLst>
          </p:cNvPr>
          <p:cNvSpPr txBox="1"/>
          <p:nvPr/>
        </p:nvSpPr>
        <p:spPr>
          <a:xfrm>
            <a:off x="1348096" y="1086478"/>
            <a:ext cx="8514735" cy="5724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objectives of the Software Management System are: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and manage software details securely.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complete information about software products.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manage software licenses and installations.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license availability and status.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maintain vendor and purchase information.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track license renewal and expiry dates.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manual work and data-entry errors.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quick and organized access to software records.</a:t>
            </a: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732C8-C3CE-ED6B-9C17-DD13E120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4</a:t>
            </a:fld>
            <a:endParaRPr lang="en-US"/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3A8B1629-A3D5-DFF2-B966-28B72D629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 dirty="0"/>
              <a:t>DBMS</a:t>
            </a:r>
          </a:p>
        </p:txBody>
      </p:sp>
    </p:spTree>
    <p:extLst>
      <p:ext uri="{BB962C8B-B14F-4D97-AF65-F5344CB8AC3E}">
        <p14:creationId xmlns:p14="http://schemas.microsoft.com/office/powerpoint/2010/main" val="378688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41A9B-EF76-3EAA-38FE-63E194DD2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A99C04E-BB78-2F7B-4E57-CBD366BFE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D93E07-447C-6202-65AE-CF479DA8F7FD}"/>
              </a:ext>
            </a:extLst>
          </p:cNvPr>
          <p:cNvSpPr txBox="1"/>
          <p:nvPr/>
        </p:nvSpPr>
        <p:spPr>
          <a:xfrm>
            <a:off x="3048000" y="5637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</a:t>
            </a: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solidFill>
                <a:srgbClr val="00206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0B3104-28BC-3EBE-E8BF-72BEB09E432B}"/>
              </a:ext>
            </a:extLst>
          </p:cNvPr>
          <p:cNvSpPr txBox="1"/>
          <p:nvPr/>
        </p:nvSpPr>
        <p:spPr>
          <a:xfrm>
            <a:off x="838200" y="13037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system does.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3B9CF4-52C8-24F9-3950-46E8ECD4F31C}"/>
              </a:ext>
            </a:extLst>
          </p:cNvPr>
          <p:cNvSpPr txBox="1"/>
          <p:nvPr/>
        </p:nvSpPr>
        <p:spPr>
          <a:xfrm>
            <a:off x="838200" y="1947182"/>
            <a:ext cx="6096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software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software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software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software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 users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licenses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vendors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installations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purchases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license expiry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software information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BF27F1B-0AC1-D75B-DE44-31C9920EE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DE3A8-F7B5-F375-0C7B-222A6EEBA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8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C841B-09DD-CBE6-758B-5E54F993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B36E47B3-408D-1806-6D66-1A2E0DCB4D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2B4AA3-7044-9DE9-A739-595A0255CC13}"/>
              </a:ext>
            </a:extLst>
          </p:cNvPr>
          <p:cNvSpPr txBox="1"/>
          <p:nvPr/>
        </p:nvSpPr>
        <p:spPr>
          <a:xfrm>
            <a:off x="2903726" y="197346"/>
            <a:ext cx="836479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REQUIREMENTS:</a:t>
            </a:r>
          </a:p>
          <a:p>
            <a:pPr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881A8B-A4C2-DC2A-BBD3-C06E2529E6F2}"/>
              </a:ext>
            </a:extLst>
          </p:cNvPr>
          <p:cNvSpPr txBox="1"/>
          <p:nvPr/>
        </p:nvSpPr>
        <p:spPr>
          <a:xfrm>
            <a:off x="990122" y="1208460"/>
            <a:ext cx="872304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provide: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 software, license, and user information from unauthorized access.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and update records quickly.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accurate and consistent software data.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 simple and user-friendly interface.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 the database to handle more software, users, and licenses in the future.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 that stored information remains accurate and consistent.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Make the system available whenever software information is required.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B26B38-4FA4-4EDD-D4A6-04C057D1E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222ADD-541A-E2BA-0BC6-BA778E3BD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531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C6F78-FDE1-26D3-2C01-AE81FE90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7D9E03E7-67B6-91B7-6E89-223D4FA1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424F23-BD35-196F-4FBB-298A613FD366}"/>
              </a:ext>
            </a:extLst>
          </p:cNvPr>
          <p:cNvSpPr txBox="1"/>
          <p:nvPr/>
        </p:nvSpPr>
        <p:spPr>
          <a:xfrm>
            <a:off x="1610854" y="116633"/>
            <a:ext cx="78749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USERS</a:t>
            </a:r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367E5-CA06-5421-AE49-61DEF318FAEF}"/>
              </a:ext>
            </a:extLst>
          </p:cNvPr>
          <p:cNvSpPr txBox="1"/>
          <p:nvPr/>
        </p:nvSpPr>
        <p:spPr>
          <a:xfrm>
            <a:off x="838200" y="1300193"/>
            <a:ext cx="926347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ADMINISTRATOR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the complete system.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Adds and updates software information.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users and software licenses.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Monitors purchases and renewals.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IT STAFF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Registers software.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Manages software installations.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Checks license availability.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Records license renewals and updates.</a:t>
            </a:r>
          </a:p>
          <a:p>
            <a:pPr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USER / EMPLOYEE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personal details for registration.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Views available software.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Requests software access.</a:t>
            </a:r>
          </a:p>
          <a:p>
            <a:pPr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Uses assigned software.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050B4E-F858-97FA-FCFB-EBCFD532A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DABBBC-3D6A-8140-EB7F-27BE09247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678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02301-FC01-0BC9-F9CC-7B1513C24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E1DC00D5-1B4A-3615-9E01-68CB77BF2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BE2B6E2-F5D8-4687-79B7-A2759F6D91F0}"/>
              </a:ext>
            </a:extLst>
          </p:cNvPr>
          <p:cNvSpPr txBox="1"/>
          <p:nvPr/>
        </p:nvSpPr>
        <p:spPr>
          <a:xfrm>
            <a:off x="838200" y="1379812"/>
            <a:ext cx="11353800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DESIGN:</a:t>
            </a:r>
          </a:p>
          <a:p>
            <a:pPr>
              <a:buNone/>
            </a:pPr>
            <a:endParaRPr lang="en-US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Entity-Relationship (ER) model represents the structure of the Software Management System.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identifies: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Objects involved in the system.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Properties that describe each entity.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Uniquely identify each record.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Show how entities are connected.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Cardinality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Defines how many records of one entity can be associated with another entity.</a:t>
            </a: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AF067D-B7C4-46D5-4E11-FD63679F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DCB1B-92F2-3707-320A-7A2005259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21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A3C9-ED28-82F2-B687-5FA39631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DCDC8523-A4B8-9764-F50A-AD7C5FAD4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05" y="177016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2D04FE-69CD-B3F9-9BEB-B874C475E0DA}"/>
              </a:ext>
            </a:extLst>
          </p:cNvPr>
          <p:cNvSpPr txBox="1"/>
          <p:nvPr/>
        </p:nvSpPr>
        <p:spPr>
          <a:xfrm>
            <a:off x="1348096" y="1025459"/>
            <a:ext cx="750482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 ENTITIES:</a:t>
            </a:r>
          </a:p>
          <a:p>
            <a:pPr>
              <a:buNone/>
            </a:pPr>
            <a:endParaRPr lang="en-US" sz="24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entities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our ER diagram are: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620946-E200-CE9E-B071-979426116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DAFB2-3F6A-34C7-6BD8-9E5C85948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224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DB25-B852-5606-3B2A-D5C92F43C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68D0A89E-9614-1C81-03D8-C61F765A9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23" y="339061"/>
            <a:ext cx="2160946" cy="686398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BA5966-F9DA-3842-74FD-A748857F49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3089832"/>
              </p:ext>
            </p:extLst>
          </p:nvPr>
        </p:nvGraphicFramePr>
        <p:xfrm>
          <a:off x="838200" y="2126774"/>
          <a:ext cx="3505200" cy="3657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6857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53785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6FF45D-843F-58D8-AC33-A797DE07498A}"/>
              </a:ext>
            </a:extLst>
          </p:cNvPr>
          <p:cNvSpPr txBox="1"/>
          <p:nvPr/>
        </p:nvSpPr>
        <p:spPr>
          <a:xfrm>
            <a:off x="3469495" y="653319"/>
            <a:ext cx="4953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ATTRIBUTES: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ACC57F3-3998-7879-12F7-69112F515B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1485107"/>
              </p:ext>
            </p:extLst>
          </p:nvPr>
        </p:nvGraphicFramePr>
        <p:xfrm>
          <a:off x="605899" y="2097909"/>
          <a:ext cx="10515600" cy="31163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65376394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62663075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082869423"/>
                    </a:ext>
                  </a:extLst>
                </a:gridCol>
              </a:tblGrid>
              <a:tr h="3731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Attributes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073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Emp_ID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Emp_Name, Email, Phone_No, Hire_Date, Address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5925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Manager_Name, Email, Phone_No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3741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Project_ID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Project_Name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Start_Date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End_Date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Technologies, Budget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0660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Task_Name, Description, Priority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4820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Module_Name, Version, Feature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107906"/>
                  </a:ext>
                </a:extLst>
              </a:tr>
              <a:tr h="2299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Client_Name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Contact_Details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339438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AD9B6D-740D-7266-E579-0C50C5F07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74828-1BCF-D18B-43E8-533164CD2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03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DFB5C-A034-6A33-F532-6650DCC3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F38F7E94-F792-C63F-A42F-318F8388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4AFC85B-95C0-E67E-507D-4D409EDDA199}"/>
              </a:ext>
            </a:extLst>
          </p:cNvPr>
          <p:cNvSpPr txBox="1"/>
          <p:nvPr/>
        </p:nvSpPr>
        <p:spPr>
          <a:xfrm>
            <a:off x="838200" y="1113263"/>
            <a:ext cx="1026072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C0CC908-8B76-84AD-F3A2-AFD21754C3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553439"/>
              </p:ext>
            </p:extLst>
          </p:nvPr>
        </p:nvGraphicFramePr>
        <p:xfrm>
          <a:off x="710762" y="1883665"/>
          <a:ext cx="10966126" cy="35935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35701">
                  <a:extLst>
                    <a:ext uri="{9D8B030D-6E8A-4147-A177-3AD203B41FA5}">
                      <a16:colId xmlns:a16="http://schemas.microsoft.com/office/drawing/2014/main" val="2197119270"/>
                    </a:ext>
                  </a:extLst>
                </a:gridCol>
                <a:gridCol w="3675050">
                  <a:extLst>
                    <a:ext uri="{9D8B030D-6E8A-4147-A177-3AD203B41FA5}">
                      <a16:colId xmlns:a16="http://schemas.microsoft.com/office/drawing/2014/main" val="4191042006"/>
                    </a:ext>
                  </a:extLst>
                </a:gridCol>
                <a:gridCol w="3655375">
                  <a:extLst>
                    <a:ext uri="{9D8B030D-6E8A-4147-A177-3AD203B41FA5}">
                      <a16:colId xmlns:a16="http://schemas.microsoft.com/office/drawing/2014/main" val="1444684906"/>
                    </a:ext>
                  </a:extLst>
                </a:gridCol>
              </a:tblGrid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Relationship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Entities Involved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Cardinality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5134940"/>
                  </a:ext>
                </a:extLst>
              </a:tr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WORKS_ON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– Project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3597268"/>
                  </a:ext>
                </a:extLst>
              </a:tr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REPORTS_TO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–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: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0046643"/>
                  </a:ext>
                </a:extLst>
              </a:tr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ASSIGNED_TO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Employee – Project –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Ternary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672878"/>
                  </a:ext>
                </a:extLst>
              </a:tr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–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: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1691251"/>
                  </a:ext>
                </a:extLst>
              </a:tr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DEPENDS_ON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–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: 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7730333"/>
                  </a:ext>
                </a:extLst>
              </a:tr>
              <a:tr h="5133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MAINTAINS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Client – 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: 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872527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0A28214-E33C-363B-D6CE-4C5BA80F29CA}"/>
              </a:ext>
            </a:extLst>
          </p:cNvPr>
          <p:cNvSpPr txBox="1"/>
          <p:nvPr/>
        </p:nvSpPr>
        <p:spPr>
          <a:xfrm>
            <a:off x="2915653" y="205660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RELATIONSHIPS &amp; CARDINALITIES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559D2D-9680-2508-9F6A-BA068D02900B}"/>
              </a:ext>
            </a:extLst>
          </p:cNvPr>
          <p:cNvSpPr txBox="1"/>
          <p:nvPr/>
        </p:nvSpPr>
        <p:spPr>
          <a:xfrm>
            <a:off x="1355662" y="984677"/>
            <a:ext cx="7742039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RELATIONSHIPS &amp; CARDINALITIES</a:t>
            </a: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 sz="2400" u="sng" dirty="0"/>
              <a:t>RELATIONSHIPS</a:t>
            </a:r>
            <a:r>
              <a:rPr lang="en-IN" sz="2400" u="sng" dirty="0">
                <a:solidFill>
                  <a:srgbClr val="002060"/>
                </a:solidFill>
              </a:rPr>
              <a:t>RELATIONSHIPS &amp; CARDINALITIES</a:t>
            </a: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&amp; CARDINALITIES</a:t>
            </a: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dirty="0"/>
              <a:t>RELATIONSHIPS &amp; CARDINALITIES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A55E15-2673-808F-0658-E5E2B2142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4CE623-0A4B-8258-4EF0-90C965C16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98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1DB0-C9E8-1264-CBD6-9EF1585DF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ditya University - Admission 2026, Fees, Courses, Placement ...">
            <a:extLst>
              <a:ext uri="{FF2B5EF4-FFF2-40B4-BE49-F238E27FC236}">
                <a16:creationId xmlns:a16="http://schemas.microsoft.com/office/drawing/2014/main" id="{4204CCF8-DC39-21D8-6751-54EC25BD3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E7F7D4B-0D57-D063-F84E-777DD1E74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546" y="878890"/>
            <a:ext cx="9971903" cy="59791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3370179-AA21-9C23-71FE-0317E3AE7498}"/>
              </a:ext>
            </a:extLst>
          </p:cNvPr>
          <p:cNvSpPr txBox="1"/>
          <p:nvPr/>
        </p:nvSpPr>
        <p:spPr>
          <a:xfrm>
            <a:off x="3375660" y="535691"/>
            <a:ext cx="5440680" cy="438912"/>
          </a:xfrm>
          <a:prstGeom prst="rect">
            <a:avLst/>
          </a:prstGeom>
          <a:noFill/>
        </p:spPr>
        <p:txBody>
          <a:bodyPr wrap="square" lIns="73152" tIns="36576" rIns="73152" bIns="36576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US" sz="2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rPr lang="en-US" sz="2400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MANAGEMENT</a:t>
            </a:r>
            <a:r>
              <a:rPr lang="en-US" sz="2400" u="sng" dirty="0">
                <a:solidFill>
                  <a:srgbClr val="0070C0"/>
                </a:solidFill>
              </a:rPr>
              <a:t> SYSTEM</a:t>
            </a:r>
            <a:endParaRPr lang="en-IN" sz="2400" u="sng" dirty="0">
              <a:solidFill>
                <a:srgbClr val="0070C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endParaRPr lang="en-US" sz="2400" u="sng" dirty="0">
              <a:solidFill>
                <a:srgbClr val="0070C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endParaRPr sz="2400" u="sng" dirty="0">
              <a:solidFill>
                <a:srgbClr val="0070C0"/>
              </a:solidFill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DEB112F-8054-FFAC-CB4F-096B81AE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DE749-A0E0-884F-801B-6A47B592D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85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F1FFDCF-D654-483B-22F1-EC5A7FBD8F12}"/>
              </a:ext>
            </a:extLst>
          </p:cNvPr>
          <p:cNvSpPr txBox="1"/>
          <p:nvPr/>
        </p:nvSpPr>
        <p:spPr>
          <a:xfrm>
            <a:off x="4710815" y="86864"/>
            <a:ext cx="311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SCHEMA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BB519-2857-C259-BE8A-DEFA9B6B5E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851" y="744151"/>
            <a:ext cx="8042328" cy="5369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48E661-FEA3-9B24-AC2E-AC9F1792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DA1C8D-81D6-8195-CFDD-1D8E60BFD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13</a:t>
            </a:fld>
            <a:endParaRPr lang="en-US"/>
          </a:p>
        </p:txBody>
      </p:sp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BA803274-BA1F-AE51-3DE5-E0032DD1A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57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E5102E-859A-B4C1-9BA1-901B66038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CD71D1-F9BA-15E4-9D75-F2CDCF19A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51F802FD-DD00-0091-EED0-2F7A545DA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889796-8105-F990-3582-44ECFEA3E7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059" y="1124697"/>
            <a:ext cx="4496190" cy="5006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98023E-5132-B7C5-E033-F00E99DC1D69}"/>
              </a:ext>
            </a:extLst>
          </p:cNvPr>
          <p:cNvSpPr txBox="1"/>
          <p:nvPr/>
        </p:nvSpPr>
        <p:spPr>
          <a:xfrm>
            <a:off x="4406502" y="264864"/>
            <a:ext cx="30368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TABLE</a:t>
            </a:r>
            <a:endParaRPr lang="en-IN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A86BF-68B0-8478-5EE1-7C19042B551A}"/>
              </a:ext>
            </a:extLst>
          </p:cNvPr>
          <p:cNvSpPr txBox="1"/>
          <p:nvPr/>
        </p:nvSpPr>
        <p:spPr>
          <a:xfrm>
            <a:off x="933636" y="1124697"/>
            <a:ext cx="499129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EMPLOYEE (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PRIMARY KEY,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VARCHAR2(50)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 UNIQUE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Phone_No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VARCHAR2(15) UNIQUE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Street VARCHAR2(100),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City VARCHAR2(50),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Pincode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fk_emp_manager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MANAGER(MANAGER(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);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707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9974196-F3E8-F40D-06C3-C13810A46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BD1283-EFBC-EB96-DE8D-D18F43C4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BB1A0B9C-D157-C5CA-EBA2-749A5D522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3478A-0BF3-DEEC-A7EB-EA89C1324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779" y="878890"/>
            <a:ext cx="6278722" cy="42828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6B10B8-3449-38F0-2795-4C26110DF5D4}"/>
              </a:ext>
            </a:extLst>
          </p:cNvPr>
          <p:cNvSpPr txBox="1"/>
          <p:nvPr/>
        </p:nvSpPr>
        <p:spPr>
          <a:xfrm>
            <a:off x="4406502" y="264864"/>
            <a:ext cx="2707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TABLE</a:t>
            </a:r>
            <a:endParaRPr lang="en-IN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73B64A-EEE4-3B81-E69C-B4A1E036D027}"/>
              </a:ext>
            </a:extLst>
          </p:cNvPr>
          <p:cNvSpPr txBox="1"/>
          <p:nvPr/>
        </p:nvSpPr>
        <p:spPr>
          <a:xfrm>
            <a:off x="457200" y="1490008"/>
            <a:ext cx="485557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PROJECT (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PRIMARY KEY,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Technologies VARCHAR2(200),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chk_project_dates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NULL OR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840575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07B817-035F-7294-8729-E156903A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022342-1649-DE4B-B3EB-942C7FCA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35E05F78-6195-CF90-FFFC-DE033EC9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32FABB-3AA3-51E9-21C2-0969F13558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1628" y="737094"/>
            <a:ext cx="3543607" cy="46562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CE44BC-4622-6260-8777-9936561F6595}"/>
              </a:ext>
            </a:extLst>
          </p:cNvPr>
          <p:cNvSpPr txBox="1"/>
          <p:nvPr/>
        </p:nvSpPr>
        <p:spPr>
          <a:xfrm>
            <a:off x="4406502" y="264864"/>
            <a:ext cx="26617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TABLE</a:t>
            </a:r>
            <a:endParaRPr lang="en-IN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176DB1-41E6-C880-1C67-320E5634E36F}"/>
              </a:ext>
            </a:extLst>
          </p:cNvPr>
          <p:cNvSpPr txBox="1"/>
          <p:nvPr/>
        </p:nvSpPr>
        <p:spPr>
          <a:xfrm>
            <a:off x="743736" y="1664821"/>
            <a:ext cx="609447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`CREATE TABLE MODULE (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PRIMARY KEY,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Version VARCHAR2(20)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Feature VARCHAR2(255),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NOT NULL,</a:t>
            </a:r>
          </a:p>
          <a:p>
            <a:pPr rtl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fk_module_project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FOREIGN KEY 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REFERENCES PROJECT(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976368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2CB094-FAF1-1339-0AC6-86462075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B2BAE-2F74-2661-08DD-57E69077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A93968CD-0F1E-A0D7-F835-1BF4FD503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25693A-7F91-C15C-33ED-FA3A755150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059" y="1124697"/>
            <a:ext cx="4496190" cy="500677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B95257-8396-D229-59C6-D2527EA3220E}"/>
              </a:ext>
            </a:extLst>
          </p:cNvPr>
          <p:cNvSpPr txBox="1"/>
          <p:nvPr/>
        </p:nvSpPr>
        <p:spPr>
          <a:xfrm>
            <a:off x="4159045" y="26486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 TABLE</a:t>
            </a:r>
            <a:endParaRPr lang="en-IN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F59B24-DA37-8449-30DF-BF6469CF16D0}"/>
              </a:ext>
            </a:extLst>
          </p:cNvPr>
          <p:cNvSpPr txBox="1"/>
          <p:nvPr/>
        </p:nvSpPr>
        <p:spPr>
          <a:xfrm>
            <a:off x="904240" y="1613118"/>
            <a:ext cx="501117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MANAGER (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PRIMARY KEY,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Manager_Name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VARCHAR2(50)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 UNIQUE NOT NULL,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Phone_No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VARCHAR2(15) UNIQUE NOT NULL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8441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BDD22E-CA8A-1531-3E26-57B74BD9C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6D0DFC-B20C-203B-EEFF-885958470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19124CE3-0F0B-E0C5-5DB4-5B396B98F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4307A2-E0FC-4C69-0EE8-3A15F3E04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7440" y="878890"/>
            <a:ext cx="5852684" cy="43971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9360FF-890A-D48A-6078-C03E83B37616}"/>
              </a:ext>
            </a:extLst>
          </p:cNvPr>
          <p:cNvSpPr txBox="1"/>
          <p:nvPr/>
        </p:nvSpPr>
        <p:spPr>
          <a:xfrm>
            <a:off x="4064000" y="19249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TABLE</a:t>
            </a:r>
            <a:endParaRPr lang="en-IN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9600F-231C-ECE5-B002-3C8B379DCD2B}"/>
              </a:ext>
            </a:extLst>
          </p:cNvPr>
          <p:cNvSpPr txBox="1"/>
          <p:nvPr/>
        </p:nvSpPr>
        <p:spPr>
          <a:xfrm>
            <a:off x="805629" y="1980417"/>
            <a:ext cx="609447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CLIENT (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PRIMARY KEY,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Client_Name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Email VARCHAR2(100) UNIQUE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Phone_No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VARCHAR2(15) UNIQUE NOT NULL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6035111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0BF9D9-C734-FFD4-F5A9-11055CFB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B186C8-4B8A-9F5C-5065-10120207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8B14BAA9-96F9-9DD6-9246-54CA33D5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225697-7442-D30A-BDFB-4069BB0044EB}"/>
              </a:ext>
            </a:extLst>
          </p:cNvPr>
          <p:cNvSpPr txBox="1"/>
          <p:nvPr/>
        </p:nvSpPr>
        <p:spPr>
          <a:xfrm>
            <a:off x="4500880" y="30485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TABLE</a:t>
            </a:r>
            <a:endParaRPr lang="en-IN" sz="2400" b="1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392B54-3E68-9C57-BE23-0D02645B7407}"/>
              </a:ext>
            </a:extLst>
          </p:cNvPr>
          <p:cNvSpPr txBox="1"/>
          <p:nvPr/>
        </p:nvSpPr>
        <p:spPr>
          <a:xfrm>
            <a:off x="1103782" y="1583257"/>
            <a:ext cx="60944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TASK (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NUMBER(5) PRIMARY KEY,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VARCHAR2(100) NOT NULL,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Description VARCHAR2(255),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Priority VARCHAR2(20),</a:t>
            </a:r>
          </a:p>
          <a:p>
            <a:pPr rtl="0"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CONSTRAINT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chk_task_priority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CHECK (Priority IN ('High', 'Medium', 'Low'))</a:t>
            </a:r>
          </a:p>
          <a:p>
            <a:pPr rtl="0">
              <a:buNone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8164554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082E580-62ED-BC37-B630-5068AE5A3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8E918D-7015-886E-0E5E-BF67E3C8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B586150B-35A7-A731-F6BE-A92D33C6D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EB4E81-09D6-7BF0-618D-3C26CA6459F9}"/>
              </a:ext>
            </a:extLst>
          </p:cNvPr>
          <p:cNvSpPr txBox="1"/>
          <p:nvPr/>
        </p:nvSpPr>
        <p:spPr>
          <a:xfrm>
            <a:off x="3749040" y="535691"/>
            <a:ext cx="4478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EMPLOYEE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F96B2-9DB9-37FC-A00F-8D866FC7AA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7360" y="1620249"/>
            <a:ext cx="8473315" cy="433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50626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DAEB43-924E-97BA-4B0F-126C01525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E24BF0-34EC-C455-D9D6-D415A77A8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07484A21-45C4-63A6-3B2D-FA476B3F8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EC72BB-4EC1-3C2F-6D6C-8903868ADA73}"/>
              </a:ext>
            </a:extLst>
          </p:cNvPr>
          <p:cNvSpPr txBox="1"/>
          <p:nvPr/>
        </p:nvSpPr>
        <p:spPr>
          <a:xfrm>
            <a:off x="3616960" y="72928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PROJECT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AC471C-F540-561F-F3CA-B060EBF24D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1850" y="1615440"/>
            <a:ext cx="7169349" cy="4401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101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B8A59E-BDE3-A0BC-1806-648599B7E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44AC81-E4C2-B154-016C-E0E6BB91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8EAE5D07-1E8A-2C5A-9869-9260CE177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365303-BDDC-6A90-7934-A10F1A049E24}"/>
              </a:ext>
            </a:extLst>
          </p:cNvPr>
          <p:cNvSpPr txBox="1"/>
          <p:nvPr/>
        </p:nvSpPr>
        <p:spPr>
          <a:xfrm>
            <a:off x="3616960" y="64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MODULE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0B9F93-394D-E2BB-8F30-1AD445CD44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22" y="1652358"/>
            <a:ext cx="7274559" cy="42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821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603636-1DFC-5F85-F40B-AC2A5AC3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ED9DE7-AE3B-E3F7-6D38-6478171B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8E569674-E45D-2903-EA26-2566482B7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D6705E-98A9-3F19-4253-CAB18D8124B2}"/>
              </a:ext>
            </a:extLst>
          </p:cNvPr>
          <p:cNvSpPr txBox="1"/>
          <p:nvPr/>
        </p:nvSpPr>
        <p:spPr>
          <a:xfrm>
            <a:off x="3860800" y="64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MANAGER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18BC34-B3C9-06C6-D75D-4CE76501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953" y="1513841"/>
            <a:ext cx="8026399" cy="4932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6217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A00E56-2F15-0D5D-4BD6-67C24C1A6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FD0D7D-FD74-2DFC-463B-7C6B4C1E6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15E8966F-3D36-5097-C94B-6BE9BB921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C2D5F3-36D9-1480-C41E-EAC039DBA3DC}"/>
              </a:ext>
            </a:extLst>
          </p:cNvPr>
          <p:cNvSpPr txBox="1"/>
          <p:nvPr/>
        </p:nvSpPr>
        <p:spPr>
          <a:xfrm>
            <a:off x="3464560" y="64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CLIENT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49DB0B-B1B6-E073-5D27-C29F6F0BE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822" y="1638543"/>
            <a:ext cx="7674458" cy="410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8171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845587-F4BB-8EE2-6149-52E2E6715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D0B609-CCE2-87C3-1B9A-C5E5D6155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5D590149-2261-B04D-F89D-CE9F77B33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76" y="192492"/>
            <a:ext cx="2160946" cy="68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18BBA3-8886-46E0-75BD-C7FF8DB2BD38}"/>
              </a:ext>
            </a:extLst>
          </p:cNvPr>
          <p:cNvSpPr txBox="1"/>
          <p:nvPr/>
        </p:nvSpPr>
        <p:spPr>
          <a:xfrm>
            <a:off x="3464560" y="64805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TASK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2B090D-A1BE-FBE6-F83F-3AA2662509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880" y="2026540"/>
            <a:ext cx="8209279" cy="4323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2833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68E8D14E-937E-927B-9536-BD41C836A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937C9B-CF8F-E208-0940-DAF569402AA7}"/>
              </a:ext>
            </a:extLst>
          </p:cNvPr>
          <p:cNvSpPr txBox="1"/>
          <p:nvPr/>
        </p:nvSpPr>
        <p:spPr>
          <a:xfrm>
            <a:off x="5102942" y="33590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F0F31-57B5-1F1C-99F4-0EB069D39375}"/>
              </a:ext>
            </a:extLst>
          </p:cNvPr>
          <p:cNvSpPr txBox="1"/>
          <p:nvPr/>
        </p:nvSpPr>
        <p:spPr>
          <a:xfrm>
            <a:off x="550607" y="10432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.Display all employees from the Employee table.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5082C0-84EE-8024-0FD7-8B4664F325BD}"/>
              </a:ext>
            </a:extLst>
          </p:cNvPr>
          <p:cNvSpPr txBox="1"/>
          <p:nvPr/>
        </p:nvSpPr>
        <p:spPr>
          <a:xfrm>
            <a:off x="757084" y="143357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FROM EMPLOYEE;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D101A0-51A7-2C42-8B40-3188A68B87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275" y="2500463"/>
            <a:ext cx="5342758" cy="383857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9135D0E-9C74-6BAA-F6C4-2B2EE820AFAD}"/>
              </a:ext>
            </a:extLst>
          </p:cNvPr>
          <p:cNvSpPr txBox="1"/>
          <p:nvPr/>
        </p:nvSpPr>
        <p:spPr>
          <a:xfrm>
            <a:off x="6738047" y="791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.Display the names and cities of all employees.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C2C1FB-E89E-9C46-FA48-52A55EC3771E}"/>
              </a:ext>
            </a:extLst>
          </p:cNvPr>
          <p:cNvSpPr txBox="1"/>
          <p:nvPr/>
        </p:nvSpPr>
        <p:spPr>
          <a:xfrm>
            <a:off x="6961239" y="1412601"/>
            <a:ext cx="63713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627D6C8-2D2A-AF02-6151-D3176F4024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8757" y="2462363"/>
            <a:ext cx="1952625" cy="38766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C9491D-C0DE-6959-D9D4-1E165159515F}"/>
              </a:ext>
            </a:extLst>
          </p:cNvPr>
          <p:cNvSpPr txBox="1"/>
          <p:nvPr/>
        </p:nvSpPr>
        <p:spPr>
          <a:xfrm>
            <a:off x="458275" y="1967017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87F6AE-5582-031E-D0C6-561188AF9F37}"/>
              </a:ext>
            </a:extLst>
          </p:cNvPr>
          <p:cNvSpPr txBox="1"/>
          <p:nvPr/>
        </p:nvSpPr>
        <p:spPr>
          <a:xfrm>
            <a:off x="7365436" y="2058932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Output:</a:t>
            </a:r>
            <a:endParaRPr lang="en-IN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7A67B7A-1090-4D73-ACFD-15178327B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ED093-EC22-EEDC-20ED-8A89B3156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E98605-BF87-0653-15CE-D0F576B3E17E}"/>
              </a:ext>
            </a:extLst>
          </p:cNvPr>
          <p:cNvSpPr txBox="1"/>
          <p:nvPr/>
        </p:nvSpPr>
        <p:spPr>
          <a:xfrm>
            <a:off x="7000240" y="543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0449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0913DB81-4438-A894-CB9E-07E807D7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F59598-1496-165B-6DA2-73238150F2A3}"/>
              </a:ext>
            </a:extLst>
          </p:cNvPr>
          <p:cNvSpPr txBox="1"/>
          <p:nvPr/>
        </p:nvSpPr>
        <p:spPr>
          <a:xfrm>
            <a:off x="511277" y="8891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 . Find the employees who are from Hyderabad.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25B034-A196-CC9F-8D22-DB86B4F4C1BD}"/>
              </a:ext>
            </a:extLst>
          </p:cNvPr>
          <p:cNvSpPr txBox="1"/>
          <p:nvPr/>
        </p:nvSpPr>
        <p:spPr>
          <a:xfrm>
            <a:off x="914400" y="12685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City = 'Hyderabad';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53FDD3-7FCD-704E-599F-DFD9E9417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429" y="2218759"/>
            <a:ext cx="2819400" cy="10191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A8D481-D43B-CA15-7F94-4CD3A3B8ECFE}"/>
              </a:ext>
            </a:extLst>
          </p:cNvPr>
          <p:cNvSpPr txBox="1"/>
          <p:nvPr/>
        </p:nvSpPr>
        <p:spPr>
          <a:xfrm>
            <a:off x="7526513" y="5359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 . Display all tasks that have high-priority.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DDAE4B-2E52-D28A-03F9-8DB9A21A05D5}"/>
              </a:ext>
            </a:extLst>
          </p:cNvPr>
          <p:cNvSpPr txBox="1"/>
          <p:nvPr/>
        </p:nvSpPr>
        <p:spPr>
          <a:xfrm>
            <a:off x="7628113" y="1073863"/>
            <a:ext cx="63909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Priority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TASK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Priority = 'High';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F4A631-6267-EAF4-016D-3BF110FF66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113" y="1954666"/>
            <a:ext cx="3124200" cy="2009775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466736A-6D60-FCEB-73EE-3DA9E8B6338A}"/>
              </a:ext>
            </a:extLst>
          </p:cNvPr>
          <p:cNvSpPr txBox="1"/>
          <p:nvPr/>
        </p:nvSpPr>
        <p:spPr>
          <a:xfrm>
            <a:off x="544614" y="33761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Display all distinct cities in which employee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live,in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alphabetical order.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6FDFAF-2B92-C2EF-9EB7-D1469684A1FF}"/>
              </a:ext>
            </a:extLst>
          </p:cNvPr>
          <p:cNvSpPr txBox="1"/>
          <p:nvPr/>
        </p:nvSpPr>
        <p:spPr>
          <a:xfrm>
            <a:off x="544614" y="412490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DISTINCT City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City;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BA209CF-5B3D-D356-4ECC-1DB6883F8B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196" y="3925293"/>
            <a:ext cx="971550" cy="246697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97654B2-A171-8092-5BD4-39F1F358F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AC40F-A0BD-3FFC-8DBE-3DE985988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982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D949308A-5FA7-8427-0AA7-C04FC6F1B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747A4A8-0B5D-BC67-9D51-B92C1B424624}"/>
              </a:ext>
            </a:extLst>
          </p:cNvPr>
          <p:cNvSpPr txBox="1"/>
          <p:nvPr/>
        </p:nvSpPr>
        <p:spPr>
          <a:xfrm>
            <a:off x="769374" y="1109459"/>
            <a:ext cx="6700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. Display all projects in  alphabetical order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the project name.</a:t>
            </a:r>
          </a:p>
          <a:p>
            <a:pPr marL="342900" indent="-342900">
              <a:buAutoNum type="arabicPlain" startAt="6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1633E8-21A6-2198-E488-8268CDD2966A}"/>
              </a:ext>
            </a:extLst>
          </p:cNvPr>
          <p:cNvSpPr txBox="1"/>
          <p:nvPr/>
        </p:nvSpPr>
        <p:spPr>
          <a:xfrm>
            <a:off x="1012108" y="1709095"/>
            <a:ext cx="67006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PROJECT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2571176-905F-680C-A5D0-D63B1E51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134" y="2807618"/>
            <a:ext cx="2647950" cy="385762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E87C549-7CE9-F84C-93CB-9604EF895E6E}"/>
              </a:ext>
            </a:extLst>
          </p:cNvPr>
          <p:cNvSpPr txBox="1"/>
          <p:nvPr/>
        </p:nvSpPr>
        <p:spPr>
          <a:xfrm>
            <a:off x="7038974" y="80964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.Find the total number of employees in the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table.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F564EB-F5B3-E539-1FEE-4D5D7AC52043}"/>
              </a:ext>
            </a:extLst>
          </p:cNvPr>
          <p:cNvSpPr txBox="1"/>
          <p:nvPr/>
        </p:nvSpPr>
        <p:spPr>
          <a:xfrm>
            <a:off x="7038974" y="1716955"/>
            <a:ext cx="62877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Total_Employees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EMPLOYEE;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5729C5-6418-E5D6-DF2F-8C28CFC424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366" y="2640285"/>
            <a:ext cx="1809750" cy="51435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FD2206C-73BF-B7F9-281D-B3869CA7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D4481-A6F8-6DA6-3DAC-4B514FF2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126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20D0E5C9-D48D-2C76-F339-43837E99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CFD8AE-2B7D-1E94-5D87-B86810B8C322}"/>
              </a:ext>
            </a:extLst>
          </p:cNvPr>
          <p:cNvSpPr txBox="1"/>
          <p:nvPr/>
        </p:nvSpPr>
        <p:spPr>
          <a:xfrm>
            <a:off x="839721" y="814413"/>
            <a:ext cx="6636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. Display each Employees along with their managers.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105D2-F493-5920-1BF4-4B394DB801B0}"/>
              </a:ext>
            </a:extLst>
          </p:cNvPr>
          <p:cNvSpPr txBox="1"/>
          <p:nvPr/>
        </p:nvSpPr>
        <p:spPr>
          <a:xfrm>
            <a:off x="1027188" y="1142540"/>
            <a:ext cx="61175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M.Manager_Name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MANAGER 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E.Manager_ID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M.Manager_ID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223154-EB18-2628-EA66-CF5D7F074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185" y="3139625"/>
            <a:ext cx="3314700" cy="36003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6C0E1D0-2A71-2C14-6CF8-F4A90D8ABFE4}"/>
              </a:ext>
            </a:extLst>
          </p:cNvPr>
          <p:cNvSpPr txBox="1"/>
          <p:nvPr/>
        </p:nvSpPr>
        <p:spPr>
          <a:xfrm>
            <a:off x="7216876" y="13640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.Display each project along with the modules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for that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project,including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830ABA-3688-8842-B94C-7B5AF9FEF6E5}"/>
              </a:ext>
            </a:extLst>
          </p:cNvPr>
          <p:cNvSpPr txBox="1"/>
          <p:nvPr/>
        </p:nvSpPr>
        <p:spPr>
          <a:xfrm>
            <a:off x="7476494" y="1060186"/>
            <a:ext cx="67105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P.Project_Name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M.Module_Name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M.Version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PROJECT P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MODULE M</a:t>
            </a: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M.Project_ID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P.Project_ID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DC837DA-D609-76F5-F324-CED1DFC2F3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1290" y="3122737"/>
            <a:ext cx="5076825" cy="3617276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100242C-5F42-202A-5BD7-37CE81C5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9FB0F-946A-FB9D-5DE9-EEB08D6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192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449B5170-1908-0955-9655-586A9962A1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975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0FD5A8-E2BF-72DC-D378-C6947F01148D}"/>
              </a:ext>
            </a:extLst>
          </p:cNvPr>
          <p:cNvSpPr txBox="1"/>
          <p:nvPr/>
        </p:nvSpPr>
        <p:spPr>
          <a:xfrm>
            <a:off x="626970" y="60442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10.Display Employees </a:t>
            </a: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name,manager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name, and employee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 by joining Employee and Manager tables.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74947-4E7A-6453-B140-C3B33EA042B0}"/>
              </a:ext>
            </a:extLst>
          </p:cNvPr>
          <p:cNvSpPr txBox="1"/>
          <p:nvPr/>
        </p:nvSpPr>
        <p:spPr>
          <a:xfrm>
            <a:off x="1256656" y="1242880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M.Manager_Name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E.City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 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JOIN MANAGER 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E.Manager_ID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M.Manager_ID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E66E3F-3C79-5706-D891-EB6AC2169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656" y="3215436"/>
            <a:ext cx="3476625" cy="378915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3483E55-242C-F14A-91D9-EF4495B18B00}"/>
              </a:ext>
            </a:extLst>
          </p:cNvPr>
          <p:cNvSpPr txBox="1"/>
          <p:nvPr/>
        </p:nvSpPr>
        <p:spPr>
          <a:xfrm>
            <a:off x="6804250" y="2749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11.Find the number of employees in each city and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only cities having more than one employee.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80A157-DAAB-FF4C-79B8-F94A8811D14A}"/>
              </a:ext>
            </a:extLst>
          </p:cNvPr>
          <p:cNvSpPr txBox="1"/>
          <p:nvPr/>
        </p:nvSpPr>
        <p:spPr>
          <a:xfrm>
            <a:off x="7253749" y="1208160"/>
            <a:ext cx="644504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City,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COUNT(*)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Employee_Count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City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1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600B38-25B5-3D21-CEFA-2313775E2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403" y="3685406"/>
            <a:ext cx="2562225" cy="1571625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4FE1352-D9E4-BB08-D334-EABFEE8AF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C205A-D5B7-2D4E-AFB9-CC7D0339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9291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0E5A4250-576A-BE2C-EB8E-7B5D3924A7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712F4-2F9D-76B5-6499-EC2FFF29C83C}"/>
              </a:ext>
            </a:extLst>
          </p:cNvPr>
          <p:cNvSpPr txBox="1"/>
          <p:nvPr/>
        </p:nvSpPr>
        <p:spPr>
          <a:xfrm>
            <a:off x="913744" y="94465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12.Display employees who were hired after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January 1, 2023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4DEE69-DB83-2391-9977-9F51E456F479}"/>
              </a:ext>
            </a:extLst>
          </p:cNvPr>
          <p:cNvSpPr txBox="1"/>
          <p:nvPr/>
        </p:nvSpPr>
        <p:spPr>
          <a:xfrm>
            <a:off x="1425677" y="151991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Emp_ID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Emp_Name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City,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Hire_Date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EMPLOYEE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 DATE '2023-01-01'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Hire_Date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465885-DB34-E9CB-4BA5-1E24ABDC9B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7576" y="3551242"/>
            <a:ext cx="3848100" cy="27051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69699C-6FE3-10C0-A475-71F66B7DF06E}"/>
              </a:ext>
            </a:extLst>
          </p:cNvPr>
          <p:cNvSpPr txBox="1"/>
          <p:nvPr/>
        </p:nvSpPr>
        <p:spPr>
          <a:xfrm>
            <a:off x="6675775" y="6782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13.Find task priorities that have more than 2 tasks.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A54C50-4161-8ADA-2659-48FF05557FC8}"/>
              </a:ext>
            </a:extLst>
          </p:cNvPr>
          <p:cNvSpPr txBox="1"/>
          <p:nvPr/>
        </p:nvSpPr>
        <p:spPr>
          <a:xfrm>
            <a:off x="7148051" y="1454418"/>
            <a:ext cx="639096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Priority,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COUNT(*)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Task_Count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TASK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Priority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HAVING COUNT(*) &gt; 2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Task_Count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DA0B8E2-1174-9A57-DBA1-D0525D415B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1885" y="4060723"/>
            <a:ext cx="2219325" cy="7620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015127-04A0-42B1-7065-E48EF5B76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7478D-1B65-4D4B-1578-54582668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575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ditya University - Admission 2026, Fees, Courses, Placement ...">
            <a:extLst>
              <a:ext uri="{FF2B5EF4-FFF2-40B4-BE49-F238E27FC236}">
                <a16:creationId xmlns:a16="http://schemas.microsoft.com/office/drawing/2014/main" id="{38B916AE-7198-7709-6FF6-312BFBE37C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88E0EF-CBE6-E7A4-3BB8-18AC30775DC6}"/>
              </a:ext>
            </a:extLst>
          </p:cNvPr>
          <p:cNvSpPr txBox="1"/>
          <p:nvPr/>
        </p:nvSpPr>
        <p:spPr>
          <a:xfrm>
            <a:off x="987779" y="8299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14.Find the number of modules available for each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version.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AADD9E-DC29-305D-153B-AEE5BD359675}"/>
              </a:ext>
            </a:extLst>
          </p:cNvPr>
          <p:cNvSpPr txBox="1"/>
          <p:nvPr/>
        </p:nvSpPr>
        <p:spPr>
          <a:xfrm>
            <a:off x="1358502" y="1445560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Version,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COUNT(*)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Module_Count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Version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Module_Count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8224C7-417A-66C1-B782-D680DF7A9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3396" y="2979239"/>
            <a:ext cx="2990850" cy="365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3CC66F-484D-3D0C-F804-85357B6307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671" y="3106903"/>
            <a:ext cx="2353003" cy="2772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4AD30C-DD1F-55F1-02E3-6124B7B64219}"/>
              </a:ext>
            </a:extLst>
          </p:cNvPr>
          <p:cNvSpPr txBox="1"/>
          <p:nvPr/>
        </p:nvSpPr>
        <p:spPr>
          <a:xfrm>
            <a:off x="8156222" y="1248487"/>
            <a:ext cx="34397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Technologies,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COUNT(*) AS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PROJECT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BY Technologies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BY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Project_Count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2DCC150-1127-DD37-7EDC-DA942CDD7E3E}"/>
              </a:ext>
            </a:extLst>
          </p:cNvPr>
          <p:cNvSpPr txBox="1"/>
          <p:nvPr/>
        </p:nvSpPr>
        <p:spPr>
          <a:xfrm>
            <a:off x="7717122" y="351290"/>
            <a:ext cx="43826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15.Find the number of projects using each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E31C37-BCB9-E72A-2214-F5C18B75F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19072-8E18-A30D-DF71-6727D9029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127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BC32-E087-561F-FE83-F06459F3519A}"/>
              </a:ext>
            </a:extLst>
          </p:cNvPr>
          <p:cNvSpPr txBox="1">
            <a:spLocks/>
          </p:cNvSpPr>
          <p:nvPr/>
        </p:nvSpPr>
        <p:spPr>
          <a:xfrm>
            <a:off x="4051300" y="200025"/>
            <a:ext cx="10515600" cy="574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NORMALISATION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874ADF-6310-A3DA-AD0F-D82B6224E2C4}"/>
              </a:ext>
            </a:extLst>
          </p:cNvPr>
          <p:cNvSpPr txBox="1"/>
          <p:nvPr/>
        </p:nvSpPr>
        <p:spPr>
          <a:xfrm>
            <a:off x="812800" y="1066800"/>
            <a:ext cx="85217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NORMALISATION is a systematic process of organizing data in a database into well-structured tables to reduce data redundancy, avoid data inconsistency, and prevent insertion, deletion, and update anomalies.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normalization, a large table is divided into smaller related tables, and relationships between these tables are established using primary keys and foreign keys.</a:t>
            </a:r>
          </a:p>
          <a:p>
            <a:r>
              <a:rPr lang="en-IN" dirty="0"/>
              <a:t>The main objectives of normalization are: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reduce duplicate data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eliminate data redundancy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maintain data consistency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avoid insertion anomalies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avoid update anomalies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avoid deletion anomalies</a:t>
            </a:r>
          </a:p>
          <a:p>
            <a:pPr marL="285750" lvl="0" indent="-285750">
              <a:buFont typeface="Wingdings" pitchFamily="2" charset="2"/>
              <a:buChar char="v"/>
            </a:pPr>
            <a:r>
              <a:rPr lang="en-IN" dirty="0"/>
              <a:t>To improve the overall structure and integrity of the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commonly used normal forms are 1NF, 2NF, and 3NF.</a:t>
            </a:r>
          </a:p>
          <a:p>
            <a:endParaRPr lang="en-US" dirty="0"/>
          </a:p>
        </p:txBody>
      </p:sp>
      <p:pic>
        <p:nvPicPr>
          <p:cNvPr id="4" name="Picture 3" descr="Aditya University - Admission 2026, Fees, Courses, Placement ...">
            <a:extLst>
              <a:ext uri="{FF2B5EF4-FFF2-40B4-BE49-F238E27FC236}">
                <a16:creationId xmlns:a16="http://schemas.microsoft.com/office/drawing/2014/main" id="{A5CAEFF5-3507-9077-0048-061E38005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058CF-9232-F7D4-8B26-302FA7CEE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C056D-6217-5698-254B-B8B252B8B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004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56F7C-BA5A-6899-47DE-49C6AC4C5061}"/>
              </a:ext>
            </a:extLst>
          </p:cNvPr>
          <p:cNvSpPr txBox="1"/>
          <p:nvPr/>
        </p:nvSpPr>
        <p:spPr>
          <a:xfrm>
            <a:off x="635000" y="910955"/>
            <a:ext cx="91948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1</a:t>
            </a:r>
            <a:r>
              <a:rPr lang="en-IN" sz="1600" b="1" u="sng" dirty="0"/>
              <a:t>. First Normal Form (1NF)</a:t>
            </a:r>
          </a:p>
          <a:p>
            <a:r>
              <a:rPr lang="en-IN" sz="1400" b="1" dirty="0"/>
              <a:t>       </a:t>
            </a:r>
          </a:p>
          <a:p>
            <a:r>
              <a:rPr lang="en-IN" sz="1400" dirty="0"/>
              <a:t>A relation is in First Normal Form (1NF) if: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Each column contains atomic (single) values.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There are no repeating groups or multivalued attributes.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Each row is uniquely identifiable, usually using a primary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Therefore one cell should contain only one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0A9945-0A8F-0EF9-CC32-A0BAE7F400FB}"/>
              </a:ext>
            </a:extLst>
          </p:cNvPr>
          <p:cNvSpPr txBox="1"/>
          <p:nvPr/>
        </p:nvSpPr>
        <p:spPr>
          <a:xfrm>
            <a:off x="635000" y="2545392"/>
            <a:ext cx="76708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2</a:t>
            </a:r>
            <a:r>
              <a:rPr lang="en-IN" sz="1400" b="1" u="sng" dirty="0"/>
              <a:t>. </a:t>
            </a:r>
            <a:r>
              <a:rPr lang="en-IN" sz="1600" b="1" u="sng" dirty="0"/>
              <a:t>Second Normal Form (2NF)</a:t>
            </a:r>
          </a:p>
          <a:p>
            <a:r>
              <a:rPr lang="en-IN" sz="1400" b="1" dirty="0"/>
              <a:t>       </a:t>
            </a:r>
          </a:p>
          <a:p>
            <a:r>
              <a:rPr lang="en-IN" sz="1400" dirty="0"/>
              <a:t>A relation is in Second Normal Form (2NF) if: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is already in 1NF.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Every non-key attribute is fully functionally dependent on the entire primary key.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There should be no partial dependency.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2NF is particularly important when a table has a composite primary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 partial dependency occurs when a non-key attribute depends on only part of a composite</a:t>
            </a:r>
            <a:r>
              <a:rPr lang="en-IN" sz="1400" b="1" dirty="0"/>
              <a:t> </a:t>
            </a:r>
            <a:r>
              <a:rPr lang="en-IN" sz="1400" dirty="0"/>
              <a:t>primary key, instead of the complete primary key.</a:t>
            </a:r>
          </a:p>
          <a:p>
            <a:endParaRPr lang="en-US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7676BC-C853-5813-B682-19C48774C805}"/>
              </a:ext>
            </a:extLst>
          </p:cNvPr>
          <p:cNvSpPr txBox="1"/>
          <p:nvPr/>
        </p:nvSpPr>
        <p:spPr>
          <a:xfrm>
            <a:off x="635000" y="4728429"/>
            <a:ext cx="99441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/>
              <a:t>3.</a:t>
            </a:r>
            <a:r>
              <a:rPr lang="en-IN" sz="1600" b="1" dirty="0"/>
              <a:t> </a:t>
            </a:r>
            <a:r>
              <a:rPr lang="en-IN" sz="1600" b="1" u="sng" dirty="0"/>
              <a:t>Third Normal Form (3NF)</a:t>
            </a:r>
          </a:p>
          <a:p>
            <a:endParaRPr lang="en-IN" sz="1400" b="1" dirty="0"/>
          </a:p>
          <a:p>
            <a:r>
              <a:rPr lang="en-IN" sz="1400" dirty="0"/>
              <a:t>A relation is in Third Normal Form (3NF) if: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is already in</a:t>
            </a:r>
            <a:r>
              <a:rPr lang="en-IN" sz="1400" b="1" dirty="0"/>
              <a:t> </a:t>
            </a:r>
            <a:r>
              <a:rPr lang="en-IN" sz="1400" dirty="0"/>
              <a:t>2NF.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It has no transitive dependency.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Non-key attributes must depend directly on the primary key, not on another non-key attribute.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A transitive dependency occurs when a non-key attribute depends on another non-key attribute.</a:t>
            </a:r>
          </a:p>
          <a:p>
            <a:endParaRPr lang="en-US" sz="1400" dirty="0"/>
          </a:p>
        </p:txBody>
      </p:sp>
      <p:pic>
        <p:nvPicPr>
          <p:cNvPr id="5" name="Picture 4" descr="Aditya University - Admission 2026, Fees, Courses, Placement ...">
            <a:extLst>
              <a:ext uri="{FF2B5EF4-FFF2-40B4-BE49-F238E27FC236}">
                <a16:creationId xmlns:a16="http://schemas.microsoft.com/office/drawing/2014/main" id="{B68C8392-B6CB-9EBA-0200-EF3BBE57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B40BEB-952C-563D-7755-D224B729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299C4F-A372-079E-A744-F121B472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0166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9888FC9-31F6-0552-4E4A-D13EC32C1D4A}"/>
              </a:ext>
            </a:extLst>
          </p:cNvPr>
          <p:cNvSpPr txBox="1"/>
          <p:nvPr/>
        </p:nvSpPr>
        <p:spPr>
          <a:xfrm>
            <a:off x="584200" y="390371"/>
            <a:ext cx="1102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                                            </a:t>
            </a: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NORMAL FORM (1NF)</a:t>
            </a:r>
          </a:p>
          <a:p>
            <a:r>
              <a:rPr lang="en-US" dirty="0"/>
              <a:t>MANAGER                                                                                                     PROJECT                                                                                             </a:t>
            </a:r>
          </a:p>
          <a:p>
            <a:endParaRPr lang="en-US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B6AEE4-BABC-9D98-B1D3-782E1984244D}"/>
              </a:ext>
            </a:extLst>
          </p:cNvPr>
          <p:cNvSpPr txBox="1"/>
          <p:nvPr/>
        </p:nvSpPr>
        <p:spPr>
          <a:xfrm>
            <a:off x="5492551" y="5149917"/>
            <a:ext cx="5156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We separate each technology into an individual value because some projects have two technologies.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Every column now contains single values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 repeating groups</a:t>
            </a:r>
          </a:p>
          <a:p>
            <a:pPr lvl="0"/>
            <a:r>
              <a:rPr lang="en-IN" sz="1400" dirty="0"/>
              <a:t>Therefore:</a:t>
            </a:r>
            <a:r>
              <a:rPr lang="en-IN" sz="1400" b="1" dirty="0"/>
              <a:t> PROJECT </a:t>
            </a:r>
            <a:r>
              <a:rPr lang="en-IN" sz="1400" dirty="0"/>
              <a:t>is now in 1NF</a:t>
            </a:r>
          </a:p>
          <a:p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6BEB93-9040-827E-172A-DD3D10DA0975}"/>
              </a:ext>
            </a:extLst>
          </p:cNvPr>
          <p:cNvSpPr txBox="1"/>
          <p:nvPr/>
        </p:nvSpPr>
        <p:spPr>
          <a:xfrm>
            <a:off x="0" y="4812677"/>
            <a:ext cx="5156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MANAGER_ID is the primary key, so every manager can be uniquely identified. Manager name, email and phone number contain single values.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Every column contains single values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No repeating groups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/>
              <a:t>Each row is unique</a:t>
            </a:r>
          </a:p>
          <a:p>
            <a:pPr lvl="0"/>
            <a:r>
              <a:rPr lang="en-IN" sz="1400" dirty="0"/>
              <a:t>Therefore: </a:t>
            </a:r>
            <a:r>
              <a:rPr lang="en-IN" sz="1400" b="1" dirty="0"/>
              <a:t>MANAGER </a:t>
            </a:r>
            <a:r>
              <a:rPr lang="en-IN" sz="1400" dirty="0"/>
              <a:t>is in 1NF</a:t>
            </a:r>
          </a:p>
          <a:p>
            <a:endParaRPr lang="en-US" sz="1400" dirty="0"/>
          </a:p>
        </p:txBody>
      </p:sp>
      <p:pic>
        <p:nvPicPr>
          <p:cNvPr id="10" name="Picture 9" descr="Aditya University - Admission 2026, Fees, Courses, Placement ...">
            <a:extLst>
              <a:ext uri="{FF2B5EF4-FFF2-40B4-BE49-F238E27FC236}">
                <a16:creationId xmlns:a16="http://schemas.microsoft.com/office/drawing/2014/main" id="{C12B75D1-FE56-77B5-3B43-83DC7743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" y="45996"/>
            <a:ext cx="2160946" cy="686398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6650682-F8AF-A306-57CE-9D5354B3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DBMS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452250B-33AD-48AE-F24E-5B8018E73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C7848D-C99C-D74A-84CF-39DD10F0C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433097"/>
              </p:ext>
            </p:extLst>
          </p:nvPr>
        </p:nvGraphicFramePr>
        <p:xfrm>
          <a:off x="126115" y="1102907"/>
          <a:ext cx="4678115" cy="35960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3917">
                  <a:extLst>
                    <a:ext uri="{9D8B030D-6E8A-4147-A177-3AD203B41FA5}">
                      <a16:colId xmlns:a16="http://schemas.microsoft.com/office/drawing/2014/main" val="1678264372"/>
                    </a:ext>
                  </a:extLst>
                </a:gridCol>
                <a:gridCol w="1193800">
                  <a:extLst>
                    <a:ext uri="{9D8B030D-6E8A-4147-A177-3AD203B41FA5}">
                      <a16:colId xmlns:a16="http://schemas.microsoft.com/office/drawing/2014/main" val="1941299122"/>
                    </a:ext>
                  </a:extLst>
                </a:gridCol>
                <a:gridCol w="1511300">
                  <a:extLst>
                    <a:ext uri="{9D8B030D-6E8A-4147-A177-3AD203B41FA5}">
                      <a16:colId xmlns:a16="http://schemas.microsoft.com/office/drawing/2014/main" val="3425007727"/>
                    </a:ext>
                  </a:extLst>
                </a:gridCol>
                <a:gridCol w="1029098">
                  <a:extLst>
                    <a:ext uri="{9D8B030D-6E8A-4147-A177-3AD203B41FA5}">
                      <a16:colId xmlns:a16="http://schemas.microsoft.com/office/drawing/2014/main" val="2043493716"/>
                    </a:ext>
                  </a:extLst>
                </a:gridCol>
              </a:tblGrid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MANAGER_ID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MANAGER_NAME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EMAIL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PHONE_NO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91210051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Ramesh Kumar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ramesh@company.com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71034138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Sanjay Rao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sanjay@company.com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72038192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Meena Sharma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meena@company.com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9000000003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71958739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Ajay Reddy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ajay@company.com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343571458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Kavya Singh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7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kavya@company.com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19139386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Mohan Das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mohan@company.com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9000000006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51928597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Swathi Patel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9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swathi@company.com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9000000007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07175555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Vijay Kumar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vijay@company.com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9000000008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565221583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209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Deepak Rao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11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deepak@company.com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9000000009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203740236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Naveen Reddy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1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naveen@company.com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9000000010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485214497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Harish Babu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1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harish@company.com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9000000011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66721961"/>
                  </a:ext>
                </a:extLst>
              </a:tr>
              <a:tr h="276623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/>
                        <a:t>212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/>
                        <a:t>Geetha Devi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>
                          <a:solidFill>
                            <a:schemeClr val="tx1"/>
                          </a:solidFill>
                          <a:hlinkClick r:id="rId1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geetha@company.com</a:t>
                      </a:r>
                      <a:endParaRPr lang="en-IN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 dirty="0"/>
                        <a:t>9000000012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8694648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6440BC1-0E7E-FF52-96A8-89CD7C5A60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188883"/>
              </p:ext>
            </p:extLst>
          </p:nvPr>
        </p:nvGraphicFramePr>
        <p:xfrm>
          <a:off x="5032986" y="1015303"/>
          <a:ext cx="6828815" cy="40409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65763">
                  <a:extLst>
                    <a:ext uri="{9D8B030D-6E8A-4147-A177-3AD203B41FA5}">
                      <a16:colId xmlns:a16="http://schemas.microsoft.com/office/drawing/2014/main" val="1011732877"/>
                    </a:ext>
                  </a:extLst>
                </a:gridCol>
                <a:gridCol w="1365763">
                  <a:extLst>
                    <a:ext uri="{9D8B030D-6E8A-4147-A177-3AD203B41FA5}">
                      <a16:colId xmlns:a16="http://schemas.microsoft.com/office/drawing/2014/main" val="3445614474"/>
                    </a:ext>
                  </a:extLst>
                </a:gridCol>
                <a:gridCol w="1365763">
                  <a:extLst>
                    <a:ext uri="{9D8B030D-6E8A-4147-A177-3AD203B41FA5}">
                      <a16:colId xmlns:a16="http://schemas.microsoft.com/office/drawing/2014/main" val="3240588225"/>
                    </a:ext>
                  </a:extLst>
                </a:gridCol>
                <a:gridCol w="1365763">
                  <a:extLst>
                    <a:ext uri="{9D8B030D-6E8A-4147-A177-3AD203B41FA5}">
                      <a16:colId xmlns:a16="http://schemas.microsoft.com/office/drawing/2014/main" val="2463788007"/>
                    </a:ext>
                  </a:extLst>
                </a:gridCol>
                <a:gridCol w="1365763">
                  <a:extLst>
                    <a:ext uri="{9D8B030D-6E8A-4147-A177-3AD203B41FA5}">
                      <a16:colId xmlns:a16="http://schemas.microsoft.com/office/drawing/2014/main" val="1398721076"/>
                    </a:ext>
                  </a:extLst>
                </a:gridCol>
              </a:tblGrid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 dirty="0"/>
                        <a:t>PROJECT_ID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PROJECT_NAME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START_DATE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END_DATE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TECHNOLOGY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976245268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Banking System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01-JAN-24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30-JUN-24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Java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593135171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Banking System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01-JAN-24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30-JUN-24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MySQL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729960424"/>
                  </a:ext>
                </a:extLst>
              </a:tr>
              <a:tr h="169387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 dirty="0"/>
                        <a:t>302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E-Commerce Platform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01-FEB-24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31-AUG-24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Python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508751551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302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E-Commerce Platform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01-FEB-24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31-AUG-24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Django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76367285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303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/>
                        <a:t>Hospital Management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01-MAR-24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30-SEP-24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Java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72095648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303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Hospital Management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01-MAR-24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30-SEP-24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MySQL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14069086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/>
                        <a:t>College Portal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01-APR-24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31-OCT-24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PHP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9031561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/>
                        <a:t>College Portal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01-APR-24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31-OCT-24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MySQL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3288070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Food Delivery App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01-MAY-24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30-NOV-24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Flutter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281031775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Food Delivery App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01-MAY-24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30-NOV-24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Firebase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52837973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306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Online Library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01-JUN-24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31-DEC-24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Python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60386220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306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Online Library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01-JUN-24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31-DEC-24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MySQL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92086543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307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HR Management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01-JUL-24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31-JAN-25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Java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415499751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307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HR Management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01-JUL-24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31-JAN-25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Oracle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069342367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308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Inventory System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01-AUG-24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28-FEB-25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C#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871541528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308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Inventory System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01-AUG-24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28-FEB-25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SQL Server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245637630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309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Travel Booking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01-SEP-24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31-MAR-25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React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529552253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309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Travel Booking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01-SEP-24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31-MAR-25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Node.js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611189204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310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Online Learning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01-OCT-24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30-APR-25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Python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748899489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310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Online Learning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01-OCT-24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30-APR-25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Flask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34663425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311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Banking Mobile App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01-NOV-24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31-MAY-25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Android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3913150415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311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Banking Mobile App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01-NOV-24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31-MAY-25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Kotlin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465466576"/>
                  </a:ext>
                </a:extLst>
              </a:tr>
              <a:tr h="1611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800" b="1"/>
                        <a:t>312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Hospital App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01-DEC-24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/>
                        <a:t>30-JUN-25</a:t>
                      </a:r>
                    </a:p>
                  </a:txBody>
                  <a:tcPr marL="40290" marR="40290" marT="20145" marB="2014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b="1" dirty="0"/>
                        <a:t>React Native</a:t>
                      </a:r>
                    </a:p>
                  </a:txBody>
                  <a:tcPr marL="40290" marR="40290" marT="20145" marB="20145" anchor="ctr"/>
                </a:tc>
                <a:extLst>
                  <a:ext uri="{0D108BD9-81ED-4DB2-BD59-A6C34878D82A}">
                    <a16:rowId xmlns:a16="http://schemas.microsoft.com/office/drawing/2014/main" val="1330734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7686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3B9EA2-CCF6-36DD-A467-9CD8520C127A}"/>
              </a:ext>
            </a:extLst>
          </p:cNvPr>
          <p:cNvSpPr txBox="1"/>
          <p:nvPr/>
        </p:nvSpPr>
        <p:spPr>
          <a:xfrm>
            <a:off x="584200" y="657678"/>
            <a:ext cx="1102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                                            </a:t>
            </a:r>
            <a:r>
              <a:rPr lang="en-US" sz="2000" b="1" u="sng" dirty="0"/>
              <a:t> </a:t>
            </a: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 NORMAL FORM (2NF)</a:t>
            </a:r>
          </a:p>
          <a:p>
            <a:r>
              <a:rPr lang="en-US" dirty="0"/>
              <a:t>PROJECT                                                                                               PROJECT_TECHNOLOGY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endParaRPr lang="en-US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E7954-2F54-DADF-0DA8-FD6BEF4FEC63}"/>
              </a:ext>
            </a:extLst>
          </p:cNvPr>
          <p:cNvSpPr txBox="1"/>
          <p:nvPr/>
        </p:nvSpPr>
        <p:spPr>
          <a:xfrm>
            <a:off x="8674885" y="2536448"/>
            <a:ext cx="3422822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PROJECT_NAME, START_DATE, END_DATE</a:t>
            </a:r>
          </a:p>
          <a:p>
            <a:r>
              <a:rPr lang="en-IN" sz="1200" dirty="0"/>
              <a:t> depend only on PROJECT_ID, not on the    complete composite key (PROJECT_ID, TECHNOLOGY).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There is partial dependence so we split the table.</a:t>
            </a:r>
          </a:p>
          <a:p>
            <a:pPr lvl="0"/>
            <a:endParaRPr lang="en-IN" sz="1200" dirty="0"/>
          </a:p>
          <a:p>
            <a:pPr lvl="0"/>
            <a:r>
              <a:rPr lang="en-IN" sz="1200" dirty="0"/>
              <a:t>Therefore: </a:t>
            </a:r>
            <a:r>
              <a:rPr lang="en-IN" sz="1200" b="1" dirty="0"/>
              <a:t>It </a:t>
            </a:r>
            <a:r>
              <a:rPr lang="en-IN" sz="1200" dirty="0"/>
              <a:t>is now in 2NF</a:t>
            </a:r>
          </a:p>
          <a:p>
            <a:endParaRPr lang="en-US" sz="1400" dirty="0"/>
          </a:p>
        </p:txBody>
      </p:sp>
      <p:pic>
        <p:nvPicPr>
          <p:cNvPr id="6" name="Picture 5" descr="Aditya University - Admission 2026, Fees, Courses, Placement ...">
            <a:extLst>
              <a:ext uri="{FF2B5EF4-FFF2-40B4-BE49-F238E27FC236}">
                <a16:creationId xmlns:a16="http://schemas.microsoft.com/office/drawing/2014/main" id="{40AE22E7-BD52-A2DB-D475-4DC7F999D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53788"/>
            <a:ext cx="2160946" cy="686398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BB008F1-482E-3E02-4039-7A7DDFB5A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8FA522-A33F-DD9F-1141-F8809F99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207E151-67B5-CB0B-7EE0-8D20A74B1D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386525"/>
              </p:ext>
            </p:extLst>
          </p:nvPr>
        </p:nvGraphicFramePr>
        <p:xfrm>
          <a:off x="299952" y="1440188"/>
          <a:ext cx="4945736" cy="43949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0336">
                  <a:extLst>
                    <a:ext uri="{9D8B030D-6E8A-4147-A177-3AD203B41FA5}">
                      <a16:colId xmlns:a16="http://schemas.microsoft.com/office/drawing/2014/main" val="4208643455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697213766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484189788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3666281127"/>
                    </a:ext>
                  </a:extLst>
                </a:gridCol>
              </a:tblGrid>
              <a:tr h="29308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PROJECT_ID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PROJECT_NAME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START_DATE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END_DATE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184042105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Banking System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01-JAN-24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30-JUN-24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54287518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E-Commerce Platform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01-FEB-24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31-AUG-24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003743002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Hospital Management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01-MAR-24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30-SEP-24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554931480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College Portal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01-APR-24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31-OCT-24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78805260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Food Delivery App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01-MAY-24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30-NOV-24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806063740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Online Library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01-JUN-24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31-DEC-24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933224864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HR Management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01-JUL-24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31-JAN-25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669987689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Inventory System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01-AUG-24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28-FEB-25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589610569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Travel Booking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01-SEP-24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31-MAR-25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611376857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Online Learning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01-OCT-24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30-APR-25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07925386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Banking Mobile App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01-NOV-24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31-MAY-25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56514739"/>
                  </a:ext>
                </a:extLst>
              </a:tr>
              <a:tr h="34181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Hospital App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01-DEC-24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30-JUN-25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14517034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173A7C6-5A02-9C15-1FAB-28DAB313D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4330771"/>
              </p:ext>
            </p:extLst>
          </p:nvPr>
        </p:nvGraphicFramePr>
        <p:xfrm>
          <a:off x="5724808" y="1440185"/>
          <a:ext cx="2733270" cy="4394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5170">
                  <a:extLst>
                    <a:ext uri="{9D8B030D-6E8A-4147-A177-3AD203B41FA5}">
                      <a16:colId xmlns:a16="http://schemas.microsoft.com/office/drawing/2014/main" val="516844196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1198819320"/>
                    </a:ext>
                  </a:extLst>
                </a:gridCol>
              </a:tblGrid>
              <a:tr h="193619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00" b="1" dirty="0"/>
                        <a:t>PROJECT_ID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b="1" dirty="0"/>
                        <a:t>TECHNOLOGY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746537075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Java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063569006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65729304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Python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72757720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Django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846107024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Java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120371550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 dirty="0"/>
                        <a:t>303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476732818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PHP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60025708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28370389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Flutter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4817686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Firebase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252403630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Python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700578915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403296160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307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Java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490539835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307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Oracle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000286521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C#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906367668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SQL Server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901566882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React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240703058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309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Node.js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589828438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310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Python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910334693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310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Flask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841004413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311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Android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992280869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 dirty="0"/>
                        <a:t>311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/>
                        <a:t>Kotlin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796012792"/>
                  </a:ext>
                </a:extLst>
              </a:tr>
              <a:tr h="17869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900" b="1"/>
                        <a:t>312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b="1" dirty="0"/>
                        <a:t>React Native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481359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8514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C9566CD-97BB-A906-1417-71E5F0C73D4F}"/>
              </a:ext>
            </a:extLst>
          </p:cNvPr>
          <p:cNvSpPr txBox="1"/>
          <p:nvPr/>
        </p:nvSpPr>
        <p:spPr>
          <a:xfrm>
            <a:off x="556111" y="4874233"/>
            <a:ext cx="544782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PROJECT_ID → Primary Key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Composite Primary Key </a:t>
            </a:r>
            <a:r>
              <a:rPr lang="en-IN" sz="1200" b="1" dirty="0"/>
              <a:t>:</a:t>
            </a:r>
            <a:r>
              <a:rPr lang="en-IN" sz="1200" dirty="0"/>
              <a:t> (PROJECT_ID, TECHNOLOGY)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Foreign Key</a:t>
            </a:r>
            <a:r>
              <a:rPr lang="en-IN" sz="1200" b="1" dirty="0"/>
              <a:t>:</a:t>
            </a:r>
            <a:r>
              <a:rPr lang="en-IN" sz="1200" dirty="0"/>
              <a:t> PROJECT_ID references PROJECT(PROJECT_ID)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In 2NF, partial dependency was removed by separating PROJECT and PROJECT_TECHNOLOGY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There is no transitive dependence because non-key attributes depend directly on the primary key not on another non-attribute.</a:t>
            </a:r>
          </a:p>
          <a:p>
            <a:r>
              <a:rPr lang="en-IN" sz="1200" dirty="0"/>
              <a:t>Therefore: </a:t>
            </a:r>
            <a:r>
              <a:rPr lang="en-IN" sz="1200" b="1" dirty="0"/>
              <a:t>It </a:t>
            </a:r>
            <a:r>
              <a:rPr lang="en-IN" sz="1200" dirty="0"/>
              <a:t>is in 3NF</a:t>
            </a:r>
          </a:p>
          <a:p>
            <a:endParaRPr lang="en-IN" sz="1200" dirty="0"/>
          </a:p>
        </p:txBody>
      </p:sp>
      <p:pic>
        <p:nvPicPr>
          <p:cNvPr id="7" name="Picture 6" descr="Aditya University - Admission 2026, Fees, Courses, Placement ...">
            <a:extLst>
              <a:ext uri="{FF2B5EF4-FFF2-40B4-BE49-F238E27FC236}">
                <a16:creationId xmlns:a16="http://schemas.microsoft.com/office/drawing/2014/main" id="{D6A942FF-94D0-CB1C-EC12-F3C301EB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46" y="90357"/>
            <a:ext cx="2160946" cy="686398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FE614-01EC-C264-E5D1-FD0AF5268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3900" y="6492875"/>
            <a:ext cx="3949302" cy="365125"/>
          </a:xfrm>
        </p:spPr>
        <p:txBody>
          <a:bodyPr/>
          <a:lstStyle/>
          <a:p>
            <a:r>
              <a:rPr lang="en-US" dirty="0"/>
              <a:t>DBMS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9D8CA5-2EE0-5A0F-ABD5-B73A7C85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17C26-AEC9-F9AA-993A-73BE95E52AC7}"/>
              </a:ext>
            </a:extLst>
          </p:cNvPr>
          <p:cNvSpPr txBox="1"/>
          <p:nvPr/>
        </p:nvSpPr>
        <p:spPr>
          <a:xfrm>
            <a:off x="584200" y="481792"/>
            <a:ext cx="11023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                                                    </a:t>
            </a:r>
            <a:r>
              <a:rPr lang="en-US" sz="2000" b="1" u="sng" dirty="0"/>
              <a:t> </a:t>
            </a:r>
            <a:r>
              <a:rPr lang="en-US" sz="20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THIRD NORMAL FORM (3NF)</a:t>
            </a:r>
          </a:p>
          <a:p>
            <a:r>
              <a:rPr lang="en-US" dirty="0"/>
              <a:t>PROJECT                                                                                                                                               PROJECT_TECHNOLOGY                                                                                                                                                                                                              </a:t>
            </a:r>
          </a:p>
          <a:p>
            <a:endParaRPr lang="en-US" u="sng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A6DB515-E41A-3660-ECF4-3D089773A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922980"/>
              </p:ext>
            </p:extLst>
          </p:nvPr>
        </p:nvGraphicFramePr>
        <p:xfrm>
          <a:off x="584200" y="1230338"/>
          <a:ext cx="6043476" cy="3465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55576">
                  <a:extLst>
                    <a:ext uri="{9D8B030D-6E8A-4147-A177-3AD203B41FA5}">
                      <a16:colId xmlns:a16="http://schemas.microsoft.com/office/drawing/2014/main" val="2442904576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888941523"/>
                    </a:ext>
                  </a:extLst>
                </a:gridCol>
                <a:gridCol w="1308100">
                  <a:extLst>
                    <a:ext uri="{9D8B030D-6E8A-4147-A177-3AD203B41FA5}">
                      <a16:colId xmlns:a16="http://schemas.microsoft.com/office/drawing/2014/main" val="956434376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380192077"/>
                    </a:ext>
                  </a:extLst>
                </a:gridCol>
              </a:tblGrid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PROJECT_ID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PROJECT_NAME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START_DATE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END_DATE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09384259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Banking System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01-JAN-24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30-JUN-24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983759511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E-Commerce Platform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01-FEB-24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31-AUG-24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6427535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303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Hospital Management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01-MAR-24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30-SEP-24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7691482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College Portal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01-APR-24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31-OCT-24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47493998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305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Food Delivery App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01-MAY-24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30-NOV-24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48883493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306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Online Library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01-JUN-24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31-DEC-24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879353850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307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HR Management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01-JUL-24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31-JAN-25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08644749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308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Inventory System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01-AUG-24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28-FEB-25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76476989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309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Travel Booking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01-SEP-24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31-MAR-25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226033494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310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Online Learning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01-OCT-24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30-APR-25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668317135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311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Banking Mobile App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01-NOV-24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31-MAY-25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78762122"/>
                  </a:ext>
                </a:extLst>
              </a:tr>
              <a:tr h="257175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200" b="1"/>
                        <a:t>312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Hospital App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01-DEC-24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/>
                        <a:t>30-JUN-25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23238399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A9F7CE3-1F7D-6EC2-229C-DA264D73B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567984"/>
              </p:ext>
            </p:extLst>
          </p:nvPr>
        </p:nvGraphicFramePr>
        <p:xfrm>
          <a:off x="7985530" y="1146187"/>
          <a:ext cx="2758670" cy="4975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270">
                  <a:extLst>
                    <a:ext uri="{9D8B030D-6E8A-4147-A177-3AD203B41FA5}">
                      <a16:colId xmlns:a16="http://schemas.microsoft.com/office/drawing/2014/main" val="306678316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839252272"/>
                    </a:ext>
                  </a:extLst>
                </a:gridCol>
              </a:tblGrid>
              <a:tr h="252378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100" b="1" dirty="0"/>
                        <a:t>PROJECT_ID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TECHNOLOGY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91230467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Java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87783113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675114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Python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849178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Django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03075139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Java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23265347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303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3773405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PHP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24583235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304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81983923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Flutter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51803348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305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Firebase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6167687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Python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46815537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306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MySQL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078511906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307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Java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125467655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307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Oracle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91625475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C#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14808231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308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SQL Server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1802932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React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407496259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309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Node.js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0327061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310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Python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39182275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310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Flask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372309547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311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Android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88814938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311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/>
                        <a:t>Kotlin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232462150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050" b="1"/>
                        <a:t>312</a:t>
                      </a:r>
                    </a:p>
                  </a:txBody>
                  <a:tcPr marL="45326" marR="45326" marT="22663" marB="2266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dirty="0"/>
                        <a:t>React Native</a:t>
                      </a:r>
                    </a:p>
                  </a:txBody>
                  <a:tcPr marL="45326" marR="45326" marT="22663" marB="22663" anchor="ctr"/>
                </a:tc>
                <a:extLst>
                  <a:ext uri="{0D108BD9-81ED-4DB2-BD59-A6C34878D82A}">
                    <a16:rowId xmlns:a16="http://schemas.microsoft.com/office/drawing/2014/main" val="19593106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3519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itya University - Admission 2026, Fees, Courses, Placement ...">
            <a:extLst>
              <a:ext uri="{FF2B5EF4-FFF2-40B4-BE49-F238E27FC236}">
                <a16:creationId xmlns:a16="http://schemas.microsoft.com/office/drawing/2014/main" id="{A83DE4AC-AA5D-FBBE-D63F-124A4A8E9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3CCC73-457B-BBF4-B2A3-807CA51CD2D5}"/>
              </a:ext>
            </a:extLst>
          </p:cNvPr>
          <p:cNvSpPr txBox="1"/>
          <p:nvPr/>
        </p:nvSpPr>
        <p:spPr>
          <a:xfrm>
            <a:off x="1719291" y="1011845"/>
            <a:ext cx="77355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002060"/>
                </a:solidFill>
              </a:rPr>
              <a:t>                                          </a:t>
            </a:r>
            <a:r>
              <a:rPr lang="en-IN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The Software Management System replaces manual record keeping with a centralized database.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It keeps employee, manager, project, task, module and client information in one organized place, which reduces errors and duplicate data.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IN" dirty="0"/>
              <a:t>The system meets its objectives of reducing manual work, giving faster access to records, and keeping data reliable and secure. It can also grow with more users, projects and records.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3C3609-3178-E055-F4A0-05988B3CF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EF670-27D6-EDC8-AB48-93B1370FE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92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ditya University - Admission 2026, Fees, Courses, Placement ...">
            <a:extLst>
              <a:ext uri="{FF2B5EF4-FFF2-40B4-BE49-F238E27FC236}">
                <a16:creationId xmlns:a16="http://schemas.microsoft.com/office/drawing/2014/main" id="{B806AA29-A58B-FCCF-F45B-4D0A8633C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83" y="192757"/>
            <a:ext cx="2160946" cy="6863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48B90B-A6CF-CAAB-DAEC-9D7D24CA2F22}"/>
              </a:ext>
            </a:extLst>
          </p:cNvPr>
          <p:cNvSpPr txBox="1"/>
          <p:nvPr/>
        </p:nvSpPr>
        <p:spPr>
          <a:xfrm>
            <a:off x="2506362" y="2429473"/>
            <a:ext cx="71792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rgbClr val="002060"/>
                </a:solidFill>
                <a:latin typeface="Algerian" panose="04020705040A02060702" pitchFamily="82" charset="77"/>
              </a:rPr>
              <a:t>THANK YOU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2962D3-5C9A-FCFE-3459-329E1ACB6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DBMS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8AAB43-3068-1824-E0F3-DF2FD3813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37C482-EB02-44B1-BF87-ACCB6182C54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38000"/>
      </p:ext>
    </p:extLst>
  </p:cSld>
  <p:clrMapOvr>
    <a:masterClrMapping/>
  </p:clrMapOvr>
</p:sld>
</file>

<file path=ppt/theme/theme1.xml><?xml version="1.0" encoding="utf-8"?>
<a:theme xmlns:a="http://schemas.openxmlformats.org/drawingml/2006/main" name="Shoji">
  <a:themeElements>
    <a:clrScheme name="Shoji">
      <a:dk1>
        <a:srgbClr val="131313"/>
      </a:dk1>
      <a:lt1>
        <a:sysClr val="window" lastClr="FFFFFF"/>
      </a:lt1>
      <a:dk2>
        <a:srgbClr val="1D3433"/>
      </a:dk2>
      <a:lt2>
        <a:srgbClr val="F3F2ED"/>
      </a:lt2>
      <a:accent1>
        <a:srgbClr val="7C5C3E"/>
      </a:accent1>
      <a:accent2>
        <a:srgbClr val="B8A189"/>
      </a:accent2>
      <a:accent3>
        <a:srgbClr val="A1A696"/>
      </a:accent3>
      <a:accent4>
        <a:srgbClr val="566868"/>
      </a:accent4>
      <a:accent5>
        <a:srgbClr val="786F50"/>
      </a:accent5>
      <a:accent6>
        <a:srgbClr val="A9A375"/>
      </a:accent6>
      <a:hlink>
        <a:srgbClr val="B1785F"/>
      </a:hlink>
      <a:folHlink>
        <a:srgbClr val="6C7F7F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2412</TotalTime>
  <Words>2980</Words>
  <Application>Microsoft Macintosh PowerPoint</Application>
  <PresentationFormat>Widescreen</PresentationFormat>
  <Paragraphs>851</Paragraphs>
  <Slides>39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Algerian</vt:lpstr>
      <vt:lpstr>Aptos</vt:lpstr>
      <vt:lpstr>Aptos Light</vt:lpstr>
      <vt:lpstr>Arial</vt:lpstr>
      <vt:lpstr>Times New Roman</vt:lpstr>
      <vt:lpstr>Walbaum Display</vt:lpstr>
      <vt:lpstr>Wingdings</vt:lpstr>
      <vt:lpstr>Shoji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Sampath Kadagala</dc:creator>
  <cp:lastModifiedBy>25B11CSA75</cp:lastModifiedBy>
  <cp:revision>32</cp:revision>
  <dcterms:created xsi:type="dcterms:W3CDTF">2026-08-09T08:50:06Z</dcterms:created>
  <dcterms:modified xsi:type="dcterms:W3CDTF">2026-10-05T15:43:32Z</dcterms:modified>
</cp:coreProperties>
</file>